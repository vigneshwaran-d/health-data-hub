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1" r:id="rId3"/>
    <p:sldId id="277" r:id="rId4"/>
    <p:sldId id="280" r:id="rId5"/>
    <p:sldId id="27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12B0A-D921-6310-F762-9319789198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03CA62-4D8F-6DAC-D1F3-509A9AA2C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CBEEA-5679-2044-206B-8CD9AB159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C80F6-4704-48F3-B8FD-B349F912C62C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327BC-676E-A2FE-65C2-8BD80BB03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2C8E6-E120-7B6B-D569-1C82E2A02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98844-C1AA-4BF2-985E-B4192DA9E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391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019C8-DB00-F3A9-EA12-28F854B15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DAC8-59A0-083D-4CBE-ED31D39BC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15A50-20EF-B233-9E5D-77FC36064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C80F6-4704-48F3-B8FD-B349F912C62C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4E29A-1333-3539-FFA2-09BD9F2BF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5D21E-73A7-38C6-5C21-902F62F63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98844-C1AA-4BF2-985E-B4192DA9E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707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F6FE5-447F-366E-8815-42AC3FEB3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0E17F-0B6A-2625-86F3-1B4275A1D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154F5-3E27-01C5-B1D3-7B6FFC35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C80F6-4704-48F3-B8FD-B349F912C62C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71F21-01D7-9BC0-BC9E-C8277DE08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2C0B8-ADFC-3F51-8FC9-0CF9348D3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98844-C1AA-4BF2-985E-B4192DA9E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209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D099-4145-368E-5A0A-FC0846F25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02623-80E5-94C6-5F7F-065CF7D58B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7A8A63-7197-3194-B1D9-8EFC6B5B5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0580CB-7FA6-F08D-7892-B326A1210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C80F6-4704-48F3-B8FD-B349F912C62C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33F5EB-2E0E-048B-CEFF-87A06C809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B023BD-5D16-92A9-E59C-A0884B691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98844-C1AA-4BF2-985E-B4192DA9E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582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49901-7D90-8D78-0698-E3D36655E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31377-40AD-D70B-1CE8-08812B47F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C20AFC-63E5-8D3C-6DBA-AF45A1F98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8C4BA5-71E1-B4DF-9F56-D99A29020B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7B89E6-82B3-9054-AB35-FE2E2BA52D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0CE23-5BA7-2D1F-039F-D60DD199B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C80F6-4704-48F3-B8FD-B349F912C62C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3DF71C-5081-7C60-1673-31786CFB6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FC7E03-9F4D-AD89-F3A7-D4CA86244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98844-C1AA-4BF2-985E-B4192DA9E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301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92027-B945-03CA-3CE8-9876AE164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DD762-ED30-5F9B-676E-98D9B59CC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C80F6-4704-48F3-B8FD-B349F912C62C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F44BE-05A1-6275-0E42-18C0C6FC7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309C2-13A4-7054-2FC9-58AD75D9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98844-C1AA-4BF2-985E-B4192DA9E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293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2F59A7-FD1E-6B14-B832-203B51058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C80F6-4704-48F3-B8FD-B349F912C62C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A0AC4C-7877-F93F-D372-5EDCD67B0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445EC-A1C4-50E6-98D9-E388EAE46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98844-C1AA-4BF2-985E-B4192DA9E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643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8511B-FD13-6D97-E680-62F850F5C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B6CCC-3288-974D-1C08-7C24B7531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B946AD-A4F0-51F0-DF8E-2ECC1F50C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38AC8D-CB41-0741-DDEF-8F21BECBA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C80F6-4704-48F3-B8FD-B349F912C62C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3727D-0F24-A5C1-BF45-6DD0D89F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8A5E0C-CBD9-280C-422C-3FA13372A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98844-C1AA-4BF2-985E-B4192DA9E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727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62692-1CE9-17BE-98F3-E321767C3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D85B9B-2ED8-31AF-C42D-EB59F9E52F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816E6-6C07-3BF0-DDAC-8DC9E969A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26C4E-8F80-2F0A-E12D-AB64E7378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C80F6-4704-48F3-B8FD-B349F912C62C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9B57B9-2878-5987-165A-8741CFAFB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59315-5289-B690-03DA-859D36E1C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98844-C1AA-4BF2-985E-B4192DA9E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517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FABB1-7CF4-81AD-F4A3-FD326541A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F5F35-1F9F-4C3B-1F84-3E2A98E2E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8F34F-380D-ED4C-5C5A-60C75C909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C80F6-4704-48F3-B8FD-B349F912C62C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638A1-2CAE-9C31-7C58-1658A9004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13116-69E6-5107-DC1A-622027594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98844-C1AA-4BF2-985E-B4192DA9E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413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B3AA70-091D-D0FB-F820-B06446A05C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7F804-A01A-8FB9-9A90-AC8FAA4B0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2F4FA-D9A5-7ECD-437A-0CBF3C7EF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C80F6-4704-48F3-B8FD-B349F912C62C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91331-500D-4EB8-FF00-E8551A51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7BFE8-1AF5-429B-0D96-E2B8CF127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98844-C1AA-4BF2-985E-B4192DA9E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7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325307-6A9D-A938-523D-C291E053F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A25F9-EAD3-5B0B-9706-C99A1DDA6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8A139-C7F5-6C57-9E63-45F0BFE558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C80F6-4704-48F3-B8FD-B349F912C62C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9211C-2941-E901-CD55-2353258E7D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3C3BD-ADCD-1F8A-5E44-81E31FA81F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98844-C1AA-4BF2-985E-B4192DA9E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70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emf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3" name="Freeform 3"/>
          <p:cNvSpPr/>
          <p:nvPr/>
        </p:nvSpPr>
        <p:spPr>
          <a:xfrm>
            <a:off x="10952312" y="743369"/>
            <a:ext cx="289985" cy="289985"/>
          </a:xfrm>
          <a:custGeom>
            <a:avLst/>
            <a:gdLst/>
            <a:ahLst/>
            <a:cxnLst/>
            <a:rect l="l" t="t" r="r" b="b"/>
            <a:pathLst>
              <a:path w="434978" h="434978">
                <a:moveTo>
                  <a:pt x="0" y="0"/>
                </a:moveTo>
                <a:lnTo>
                  <a:pt x="434978" y="0"/>
                </a:lnTo>
                <a:lnTo>
                  <a:pt x="434978" y="434978"/>
                </a:lnTo>
                <a:lnTo>
                  <a:pt x="0" y="4349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4551A9-B4F8-CE9F-7C26-D6A2A59F7D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D23A308-7150-6464-E789-D1F28BD284D5}"/>
              </a:ext>
            </a:extLst>
          </p:cNvPr>
          <p:cNvSpPr/>
          <p:nvPr/>
        </p:nvSpPr>
        <p:spPr>
          <a:xfrm>
            <a:off x="4265821" y="113031"/>
            <a:ext cx="2957669" cy="615553"/>
          </a:xfrm>
          <a:prstGeom prst="rect">
            <a:avLst/>
          </a:prstGeom>
          <a:noFill/>
        </p:spPr>
        <p:txBody>
          <a:bodyPr wrap="none" lIns="60960" tIns="30480" rIns="60960" bIns="30480">
            <a:spAutoFit/>
          </a:bodyPr>
          <a:lstStyle/>
          <a:p>
            <a:pPr algn="ctr"/>
            <a:r>
              <a:rPr lang="en-US" sz="3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Revenue Surge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7FC70-5294-2A2F-7A47-7A86E76A8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2B0C672-2336-A35F-3E32-1AC59562CC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E6FFC7D-72C6-308F-2872-91F6B74421B5}"/>
              </a:ext>
            </a:extLst>
          </p:cNvPr>
          <p:cNvSpPr/>
          <p:nvPr/>
        </p:nvSpPr>
        <p:spPr>
          <a:xfrm>
            <a:off x="10952312" y="743369"/>
            <a:ext cx="289985" cy="289985"/>
          </a:xfrm>
          <a:custGeom>
            <a:avLst/>
            <a:gdLst/>
            <a:ahLst/>
            <a:cxnLst/>
            <a:rect l="l" t="t" r="r" b="b"/>
            <a:pathLst>
              <a:path w="434978" h="434978">
                <a:moveTo>
                  <a:pt x="0" y="0"/>
                </a:moveTo>
                <a:lnTo>
                  <a:pt x="434978" y="0"/>
                </a:lnTo>
                <a:lnTo>
                  <a:pt x="434978" y="434978"/>
                </a:lnTo>
                <a:lnTo>
                  <a:pt x="0" y="4349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2FC8AE-8528-B027-9924-D7DDAA078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8"/>
            <a:ext cx="12192000" cy="6858018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95E24F3-7DC0-D57D-9C48-A1DB584D47EB}"/>
              </a:ext>
            </a:extLst>
          </p:cNvPr>
          <p:cNvSpPr/>
          <p:nvPr/>
        </p:nvSpPr>
        <p:spPr>
          <a:xfrm>
            <a:off x="0" y="-18"/>
            <a:ext cx="12192000" cy="4826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spc="33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Better $ impact by Effective Work flow Structure</a:t>
            </a:r>
            <a:endParaRPr lang="en-IN" sz="1200" b="1" spc="33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2347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6617F-D50D-1952-E72E-B1E8C3049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14A5F7C-97EA-CA1C-66F5-6832F292D4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 sz="1200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9DCB8EE-7DF5-D3F5-5F73-AC1645DC776D}"/>
              </a:ext>
            </a:extLst>
          </p:cNvPr>
          <p:cNvSpPr/>
          <p:nvPr/>
        </p:nvSpPr>
        <p:spPr>
          <a:xfrm>
            <a:off x="10952312" y="743369"/>
            <a:ext cx="289985" cy="289985"/>
          </a:xfrm>
          <a:custGeom>
            <a:avLst/>
            <a:gdLst/>
            <a:ahLst/>
            <a:cxnLst/>
            <a:rect l="l" t="t" r="r" b="b"/>
            <a:pathLst>
              <a:path w="434978" h="434978">
                <a:moveTo>
                  <a:pt x="0" y="0"/>
                </a:moveTo>
                <a:lnTo>
                  <a:pt x="434978" y="0"/>
                </a:lnTo>
                <a:lnTo>
                  <a:pt x="434978" y="434978"/>
                </a:lnTo>
                <a:lnTo>
                  <a:pt x="0" y="4349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AB8BC1-70A8-64BD-7475-BF5887044865}"/>
              </a:ext>
            </a:extLst>
          </p:cNvPr>
          <p:cNvSpPr/>
          <p:nvPr/>
        </p:nvSpPr>
        <p:spPr>
          <a:xfrm>
            <a:off x="8340" y="23126"/>
            <a:ext cx="12192000" cy="4826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spc="33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AR Work Flow Prioritization</a:t>
            </a:r>
            <a:endParaRPr lang="en-IN" sz="1200" b="1" spc="33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0EC9D3-65AD-927C-1D5F-290A0970CAC1}"/>
              </a:ext>
            </a:extLst>
          </p:cNvPr>
          <p:cNvSpPr/>
          <p:nvPr/>
        </p:nvSpPr>
        <p:spPr>
          <a:xfrm>
            <a:off x="203200" y="3313329"/>
            <a:ext cx="5994400" cy="85579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/>
              <a:t>Insurance type </a:t>
            </a:r>
            <a:r>
              <a:rPr lang="en-US" sz="1600" b="1" dirty="0" err="1"/>
              <a:t>P,S,T</a:t>
            </a:r>
            <a:r>
              <a:rPr lang="en-US" sz="1600" b="1" dirty="0"/>
              <a:t>, self</a:t>
            </a:r>
          </a:p>
          <a:p>
            <a:r>
              <a:rPr lang="en-US" sz="1600" dirty="0"/>
              <a:t>Insurance type based on Primary , Secondary and Tertiary and Self pay</a:t>
            </a:r>
            <a:endParaRPr lang="en-IN" sz="16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14AC83-EF45-0C62-14E7-CAA31555FA93}"/>
              </a:ext>
            </a:extLst>
          </p:cNvPr>
          <p:cNvSpPr/>
          <p:nvPr/>
        </p:nvSpPr>
        <p:spPr>
          <a:xfrm>
            <a:off x="203200" y="2446686"/>
            <a:ext cx="5994400" cy="74548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/>
              <a:t>Adjudication timeline:</a:t>
            </a:r>
          </a:p>
          <a:p>
            <a:r>
              <a:rPr lang="en-US" sz="1600" dirty="0"/>
              <a:t>	Time taken for the payer to pay claim</a:t>
            </a:r>
          </a:p>
          <a:p>
            <a:r>
              <a:rPr lang="en-US" sz="1600" dirty="0"/>
              <a:t>	Calcualtion: Paid date - DOS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01DE34-F4B6-7262-27AB-7B985CA2DDF0}"/>
              </a:ext>
            </a:extLst>
          </p:cNvPr>
          <p:cNvSpPr/>
          <p:nvPr/>
        </p:nvSpPr>
        <p:spPr>
          <a:xfrm>
            <a:off x="183108" y="581796"/>
            <a:ext cx="5994400" cy="81830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/>
              <a:t>TFL </a:t>
            </a:r>
          </a:p>
          <a:p>
            <a:r>
              <a:rPr lang="en-US" sz="1600" dirty="0"/>
              <a:t>	Timely filing by Payer plan</a:t>
            </a:r>
          </a:p>
          <a:p>
            <a:r>
              <a:rPr lang="en-US" sz="1600" dirty="0"/>
              <a:t>	calculations : Lag: Today - DOS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EA8BF0-C9BF-763C-1371-8723286E3BF0}"/>
              </a:ext>
            </a:extLst>
          </p:cNvPr>
          <p:cNvSpPr/>
          <p:nvPr/>
        </p:nvSpPr>
        <p:spPr>
          <a:xfrm>
            <a:off x="203200" y="1516588"/>
            <a:ext cx="5994400" cy="81830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/>
              <a:t>AFL</a:t>
            </a:r>
          </a:p>
          <a:p>
            <a:r>
              <a:rPr lang="en-US" sz="1600" dirty="0"/>
              <a:t>	Appeal filing limit by Payer plan</a:t>
            </a:r>
          </a:p>
          <a:p>
            <a:r>
              <a:rPr lang="en-US" sz="1600" dirty="0"/>
              <a:t>	Calculations: Today - Denial poste date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B4AC1E-9686-8B6E-C9AB-4E776862AE97}"/>
              </a:ext>
            </a:extLst>
          </p:cNvPr>
          <p:cNvSpPr/>
          <p:nvPr/>
        </p:nvSpPr>
        <p:spPr>
          <a:xfrm>
            <a:off x="203200" y="4311863"/>
            <a:ext cx="5994400" cy="85579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/>
              <a:t>Denial resolution - Category</a:t>
            </a:r>
          </a:p>
          <a:p>
            <a:r>
              <a:rPr lang="en-US" sz="1600" dirty="0"/>
              <a:t>	Denied resolution by Category </a:t>
            </a:r>
          </a:p>
          <a:p>
            <a:r>
              <a:rPr lang="en-US" sz="1600" dirty="0"/>
              <a:t>	Denial posted date - payment posted date after denial date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DE8CEA-1887-CDAE-8B64-D59C7536C037}"/>
              </a:ext>
            </a:extLst>
          </p:cNvPr>
          <p:cNvSpPr/>
          <p:nvPr/>
        </p:nvSpPr>
        <p:spPr>
          <a:xfrm>
            <a:off x="203200" y="5284146"/>
            <a:ext cx="5994400" cy="73127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/>
              <a:t>Denial resolution - Payer</a:t>
            </a:r>
          </a:p>
          <a:p>
            <a:r>
              <a:rPr lang="en-US" sz="1600" dirty="0"/>
              <a:t>	Denied resolution by Payer</a:t>
            </a:r>
          </a:p>
          <a:p>
            <a:r>
              <a:rPr lang="en-US" sz="1600" dirty="0"/>
              <a:t>	Denial posted date - payment posted date after denial date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0E7CC3-A0F6-84C0-AEE3-830367026F15}"/>
              </a:ext>
            </a:extLst>
          </p:cNvPr>
          <p:cNvSpPr/>
          <p:nvPr/>
        </p:nvSpPr>
        <p:spPr>
          <a:xfrm>
            <a:off x="203200" y="6131908"/>
            <a:ext cx="5994400" cy="70296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/>
              <a:t>Recommended action Category</a:t>
            </a:r>
          </a:p>
          <a:p>
            <a:r>
              <a:rPr lang="en-US" sz="1600" dirty="0"/>
              <a:t>	Corrected claim /New claim</a:t>
            </a:r>
          </a:p>
          <a:p>
            <a:r>
              <a:rPr lang="en-US" sz="1600" dirty="0"/>
              <a:t>	Appeal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543784-7AC9-35A1-8004-ACD9DE923853}"/>
              </a:ext>
            </a:extLst>
          </p:cNvPr>
          <p:cNvSpPr/>
          <p:nvPr/>
        </p:nvSpPr>
        <p:spPr>
          <a:xfrm>
            <a:off x="6313606" y="608017"/>
            <a:ext cx="5791200" cy="168718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/>
              <a:t>Claim $ Value</a:t>
            </a:r>
          </a:p>
          <a:p>
            <a:r>
              <a:rPr lang="en-US" sz="1600" b="1" dirty="0"/>
              <a:t>	</a:t>
            </a:r>
            <a:r>
              <a:rPr lang="en-US" sz="1600" dirty="0"/>
              <a:t>Average OSAR +100% above</a:t>
            </a:r>
          </a:p>
          <a:p>
            <a:r>
              <a:rPr lang="en-US" sz="1600" dirty="0"/>
              <a:t>	Average OSAR +50 % Above</a:t>
            </a:r>
          </a:p>
          <a:p>
            <a:r>
              <a:rPr lang="en-US" sz="1600" dirty="0"/>
              <a:t>	Average OSAR </a:t>
            </a:r>
          </a:p>
          <a:p>
            <a:r>
              <a:rPr lang="en-US" sz="1600" dirty="0"/>
              <a:t>	Lesser than Average OSAR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BA5DA68-C518-01FF-C1C6-5EF767465987}"/>
              </a:ext>
            </a:extLst>
          </p:cNvPr>
          <p:cNvSpPr/>
          <p:nvPr/>
        </p:nvSpPr>
        <p:spPr>
          <a:xfrm>
            <a:off x="6299200" y="4311863"/>
            <a:ext cx="5791200" cy="85579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/>
              <a:t>Historical payment /No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B5C2BB3-21D9-7791-A9B4-33E656E689DB}"/>
              </a:ext>
            </a:extLst>
          </p:cNvPr>
          <p:cNvSpPr/>
          <p:nvPr/>
        </p:nvSpPr>
        <p:spPr>
          <a:xfrm>
            <a:off x="6306024" y="5269928"/>
            <a:ext cx="5791200" cy="74548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/>
              <a:t>Similar Type of issues – Project level addressing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E0AC52A-9270-6059-8BB0-DC01FEFBC5D9}"/>
              </a:ext>
            </a:extLst>
          </p:cNvPr>
          <p:cNvSpPr/>
          <p:nvPr/>
        </p:nvSpPr>
        <p:spPr>
          <a:xfrm>
            <a:off x="6328770" y="2434934"/>
            <a:ext cx="5791200" cy="74548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>
                <a:latin typeface="+mj-lt"/>
              </a:rPr>
              <a:t>Unbilled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A7E1D1-793D-3DE6-C91F-061AE09D73CB}"/>
              </a:ext>
            </a:extLst>
          </p:cNvPr>
          <p:cNvSpPr/>
          <p:nvPr/>
        </p:nvSpPr>
        <p:spPr>
          <a:xfrm>
            <a:off x="6306024" y="3354272"/>
            <a:ext cx="5791200" cy="74548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/>
              <a:t>Rejection</a:t>
            </a:r>
            <a:endParaRPr lang="en-US" sz="1600" b="1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AD1E8D6-EDC1-988C-2265-ADCB5ABCA647}"/>
              </a:ext>
            </a:extLst>
          </p:cNvPr>
          <p:cNvSpPr/>
          <p:nvPr/>
        </p:nvSpPr>
        <p:spPr>
          <a:xfrm>
            <a:off x="6318913" y="6089385"/>
            <a:ext cx="5791200" cy="74548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/>
              <a:t> Client Assistance Success rate &amp; AR collections</a:t>
            </a:r>
          </a:p>
        </p:txBody>
      </p:sp>
    </p:spTree>
    <p:extLst>
      <p:ext uri="{BB962C8B-B14F-4D97-AF65-F5344CB8AC3E}">
        <p14:creationId xmlns:p14="http://schemas.microsoft.com/office/powerpoint/2010/main" val="715436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E9BDD-C517-3AC6-9E7F-90C537DFE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12AD453-2418-220F-71C6-C9B294EFE7DB}"/>
              </a:ext>
            </a:extLst>
          </p:cNvPr>
          <p:cNvSpPr/>
          <p:nvPr/>
        </p:nvSpPr>
        <p:spPr>
          <a:xfrm>
            <a:off x="-8340" y="23125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 sz="1200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51C6853-CD75-A7C0-8916-F26D5390C8B4}"/>
              </a:ext>
            </a:extLst>
          </p:cNvPr>
          <p:cNvSpPr/>
          <p:nvPr/>
        </p:nvSpPr>
        <p:spPr>
          <a:xfrm>
            <a:off x="10952312" y="743369"/>
            <a:ext cx="289985" cy="289985"/>
          </a:xfrm>
          <a:custGeom>
            <a:avLst/>
            <a:gdLst/>
            <a:ahLst/>
            <a:cxnLst/>
            <a:rect l="l" t="t" r="r" b="b"/>
            <a:pathLst>
              <a:path w="434978" h="434978">
                <a:moveTo>
                  <a:pt x="0" y="0"/>
                </a:moveTo>
                <a:lnTo>
                  <a:pt x="434978" y="0"/>
                </a:lnTo>
                <a:lnTo>
                  <a:pt x="434978" y="434978"/>
                </a:lnTo>
                <a:lnTo>
                  <a:pt x="0" y="4349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2F236A-172E-4387-40D1-881C950A7EF6}"/>
              </a:ext>
            </a:extLst>
          </p:cNvPr>
          <p:cNvSpPr/>
          <p:nvPr/>
        </p:nvSpPr>
        <p:spPr>
          <a:xfrm>
            <a:off x="8340" y="23126"/>
            <a:ext cx="12192000" cy="4826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spc="33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AR Work Flow by Decision Tree model</a:t>
            </a:r>
            <a:endParaRPr lang="en-IN" sz="1200" b="1" spc="33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7E952082-0059-D3DA-DA3B-76AD0DF66291}"/>
              </a:ext>
            </a:extLst>
          </p:cNvPr>
          <p:cNvSpPr/>
          <p:nvPr/>
        </p:nvSpPr>
        <p:spPr>
          <a:xfrm>
            <a:off x="609600" y="743369"/>
            <a:ext cx="863600" cy="4826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Sample</a:t>
            </a:r>
            <a:endParaRPr lang="en-I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F48B9E-8FB8-C529-412B-F197AB0E5381}"/>
              </a:ext>
            </a:extLst>
          </p:cNvPr>
          <p:cNvSpPr txBox="1"/>
          <p:nvPr/>
        </p:nvSpPr>
        <p:spPr>
          <a:xfrm>
            <a:off x="1676400" y="795867"/>
            <a:ext cx="1727200" cy="7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33" dirty="0"/>
              <a:t>Denial for POS</a:t>
            </a:r>
            <a:endParaRPr lang="en-IN" sz="2133" dirty="0"/>
          </a:p>
        </p:txBody>
      </p:sp>
      <p:pic>
        <p:nvPicPr>
          <p:cNvPr id="7" name="Picture 6" descr="A diagram of work flow for POS denial">
            <a:extLst>
              <a:ext uri="{FF2B5EF4-FFF2-40B4-BE49-F238E27FC236}">
                <a16:creationId xmlns:a16="http://schemas.microsoft.com/office/drawing/2014/main" id="{2B922D5B-58F9-47FF-9DBD-3724B2842C3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1" y="1516110"/>
            <a:ext cx="5594694" cy="48592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1E1FB3-05BC-6B38-BFBE-000B90583C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9436" y="1516110"/>
            <a:ext cx="6033057" cy="35590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41137C0-C787-62C1-32A2-DC666E92733F}"/>
              </a:ext>
            </a:extLst>
          </p:cNvPr>
          <p:cNvSpPr txBox="1"/>
          <p:nvPr/>
        </p:nvSpPr>
        <p:spPr>
          <a:xfrm>
            <a:off x="5708555" y="781353"/>
            <a:ext cx="6502400" cy="543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33" b="1" dirty="0">
                <a:solidFill>
                  <a:srgbClr val="002060"/>
                </a:solidFill>
              </a:rPr>
              <a:t>Decision tree based </a:t>
            </a:r>
            <a:r>
              <a:rPr lang="en-US" sz="1600" dirty="0">
                <a:solidFill>
                  <a:srgbClr val="002060"/>
                </a:solidFill>
              </a:rPr>
              <a:t>on</a:t>
            </a:r>
            <a:r>
              <a:rPr lang="en-US" sz="2933" b="1" dirty="0">
                <a:solidFill>
                  <a:srgbClr val="002060"/>
                </a:solidFill>
              </a:rPr>
              <a:t> Industry standards</a:t>
            </a:r>
            <a:endParaRPr lang="en-IN" sz="2933" b="1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2B4789-F0AC-C50B-0DBF-FF316376625B}"/>
              </a:ext>
            </a:extLst>
          </p:cNvPr>
          <p:cNvSpPr txBox="1"/>
          <p:nvPr/>
        </p:nvSpPr>
        <p:spPr>
          <a:xfrm>
            <a:off x="6205811" y="5350231"/>
            <a:ext cx="5740400" cy="912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10" indent="-190510">
              <a:buFont typeface="Arial" panose="020B0604020202020204" pitchFamily="34" charset="0"/>
              <a:buChar char="•"/>
            </a:pPr>
            <a:r>
              <a:rPr lang="en-IN" sz="1333" dirty="0"/>
              <a:t>Give context why should send to reprocess with sample encounters </a:t>
            </a:r>
          </a:p>
          <a:p>
            <a:pPr marL="190510" indent="-190510">
              <a:buFont typeface="Arial" panose="020B0604020202020204" pitchFamily="34" charset="0"/>
              <a:buChar char="•"/>
            </a:pPr>
            <a:r>
              <a:rPr lang="en-IN" sz="1333" dirty="0"/>
              <a:t>Give context based on SOP update and guidelines</a:t>
            </a:r>
          </a:p>
          <a:p>
            <a:pPr marL="190510" indent="-190510">
              <a:buFont typeface="Arial" panose="020B0604020202020204" pitchFamily="34" charset="0"/>
              <a:buChar char="•"/>
            </a:pPr>
            <a:r>
              <a:rPr lang="en-IN" sz="1333" dirty="0"/>
              <a:t>More accurate resolutions which can be automated /mapped based on SOP/Specialty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203041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51FE7-3F01-76BF-0EC5-95B0E67D7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8524E42-7EEE-7029-2261-DF25F480F5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D01F9F9-C5A1-38BD-9C1A-58E233B723C9}"/>
              </a:ext>
            </a:extLst>
          </p:cNvPr>
          <p:cNvSpPr/>
          <p:nvPr/>
        </p:nvSpPr>
        <p:spPr>
          <a:xfrm>
            <a:off x="10952312" y="743369"/>
            <a:ext cx="289985" cy="289985"/>
          </a:xfrm>
          <a:custGeom>
            <a:avLst/>
            <a:gdLst/>
            <a:ahLst/>
            <a:cxnLst/>
            <a:rect l="l" t="t" r="r" b="b"/>
            <a:pathLst>
              <a:path w="434978" h="434978">
                <a:moveTo>
                  <a:pt x="0" y="0"/>
                </a:moveTo>
                <a:lnTo>
                  <a:pt x="434978" y="0"/>
                </a:lnTo>
                <a:lnTo>
                  <a:pt x="434978" y="434978"/>
                </a:lnTo>
                <a:lnTo>
                  <a:pt x="0" y="4349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6C62A9-E094-56F5-25EF-EEAAADD56D8B}"/>
              </a:ext>
            </a:extLst>
          </p:cNvPr>
          <p:cNvSpPr/>
          <p:nvPr/>
        </p:nvSpPr>
        <p:spPr>
          <a:xfrm>
            <a:off x="0" y="-18"/>
            <a:ext cx="12192000" cy="4826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spc="33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Fully loaded Automation and work flow</a:t>
            </a:r>
            <a:endParaRPr lang="en-IN" sz="1200" b="1" spc="33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5" name="AutoShape 2" descr="Uploaded image">
            <a:extLst>
              <a:ext uri="{FF2B5EF4-FFF2-40B4-BE49-F238E27FC236}">
                <a16:creationId xmlns:a16="http://schemas.microsoft.com/office/drawing/2014/main" id="{988EB8D4-71D2-23E4-880F-33C8C0BF92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endParaRPr lang="en-IN" sz="12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6D979B-775D-495C-470B-5CFDC12E3C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1017052"/>
            <a:ext cx="8614952" cy="543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992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</Words>
  <Application>Microsoft Office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Harini Shankar</dc:creator>
  <cp:lastModifiedBy>Harini Shankar</cp:lastModifiedBy>
  <cp:revision>1</cp:revision>
  <dcterms:created xsi:type="dcterms:W3CDTF">2026-03-07T05:06:31Z</dcterms:created>
  <dcterms:modified xsi:type="dcterms:W3CDTF">2026-03-07T05:07:20Z</dcterms:modified>
</cp:coreProperties>
</file>